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DM Sans" pitchFamily="2" charset="0"/>
      <p:regular r:id="rId10"/>
    </p:embeddedFont>
    <p:embeddedFont>
      <p:font typeface="DM Sans Bold" panose="020B0604020202020204" charset="0"/>
      <p:regular r:id="rId11"/>
    </p:embeddedFont>
    <p:embeddedFont>
      <p:font typeface="IBM Plex Sans" panose="020B0503050203000203" pitchFamily="34" charset="0"/>
      <p:regular r:id="rId12"/>
    </p:embeddedFont>
    <p:embeddedFont>
      <p:font typeface="IBM Plex Sans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33350"/>
            <a:chOff x="0" y="0"/>
            <a:chExt cx="24384000" cy="177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77800"/>
            </a:xfrm>
            <a:custGeom>
              <a:avLst/>
              <a:gdLst/>
              <a:ahLst/>
              <a:cxnLst/>
              <a:rect l="l" t="t" r="r" b="b"/>
              <a:pathLst>
                <a:path w="24384000" h="1778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0F9D94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384000" cy="215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573000" y="0"/>
            <a:ext cx="5715000" cy="10287000"/>
            <a:chOff x="0" y="0"/>
            <a:chExt cx="7620000" cy="13716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620000" cy="13716000"/>
            </a:xfrm>
            <a:custGeom>
              <a:avLst/>
              <a:gdLst/>
              <a:ahLst/>
              <a:cxnLst/>
              <a:rect l="l" t="t" r="r" b="b"/>
              <a:pathLst>
                <a:path w="7620000" h="13716000">
                  <a:moveTo>
                    <a:pt x="0" y="0"/>
                  </a:moveTo>
                  <a:lnTo>
                    <a:pt x="7620000" y="0"/>
                  </a:lnTo>
                  <a:lnTo>
                    <a:pt x="7620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385B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7620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672063" y="-843565"/>
            <a:ext cx="4090437" cy="4090437"/>
          </a:xfrm>
          <a:custGeom>
            <a:avLst/>
            <a:gdLst/>
            <a:ahLst/>
            <a:cxnLst/>
            <a:rect l="l" t="t" r="r" b="b"/>
            <a:pathLst>
              <a:path w="4090437" h="4090437">
                <a:moveTo>
                  <a:pt x="0" y="0"/>
                </a:moveTo>
                <a:lnTo>
                  <a:pt x="4090437" y="0"/>
                </a:lnTo>
                <a:lnTo>
                  <a:pt x="4090437" y="4090437"/>
                </a:lnTo>
                <a:lnTo>
                  <a:pt x="0" y="40904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3620750" y="1107117"/>
            <a:ext cx="3544713" cy="3544713"/>
          </a:xfrm>
          <a:custGeom>
            <a:avLst/>
            <a:gdLst/>
            <a:ahLst/>
            <a:cxnLst/>
            <a:rect l="l" t="t" r="r" b="b"/>
            <a:pathLst>
              <a:path w="3544713" h="3544713">
                <a:moveTo>
                  <a:pt x="0" y="0"/>
                </a:moveTo>
                <a:lnTo>
                  <a:pt x="3544713" y="0"/>
                </a:lnTo>
                <a:lnTo>
                  <a:pt x="3544713" y="3544712"/>
                </a:lnTo>
                <a:lnTo>
                  <a:pt x="0" y="35447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143000" y="2343150"/>
            <a:ext cx="619125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98">
                <a:solidFill>
                  <a:srgbClr val="0F9D94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INTERNSHIP PRESENTATION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43000" y="3076575"/>
            <a:ext cx="10096500" cy="2215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80"/>
              </a:lnSpc>
            </a:pPr>
            <a:r>
              <a:rPr lang="en-US" sz="8250" b="1">
                <a:solidFill>
                  <a:srgbClr val="12385B"/>
                </a:solidFill>
                <a:latin typeface="DM Sans Bold"/>
                <a:ea typeface="DM Sans Bold"/>
                <a:cs typeface="DM Sans Bold"/>
                <a:sym typeface="DM Sans Bold"/>
              </a:rPr>
              <a:t>Virtual</a:t>
            </a:r>
          </a:p>
          <a:p>
            <a:pPr algn="l">
              <a:lnSpc>
                <a:spcPts val="8580"/>
              </a:lnSpc>
            </a:pPr>
            <a:r>
              <a:rPr lang="en-US" sz="8250" b="1">
                <a:solidFill>
                  <a:srgbClr val="12385B"/>
                </a:solidFill>
                <a:latin typeface="DM Sans Bold"/>
                <a:ea typeface="DM Sans Bold"/>
                <a:cs typeface="DM Sans Bold"/>
                <a:sym typeface="DM Sans Bold"/>
              </a:rPr>
              <a:t>Charity Drive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43000" y="5381625"/>
            <a:ext cx="6667500" cy="480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 b="1">
                <a:solidFill>
                  <a:srgbClr val="0F9D94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Fundraising Intern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3000" y="6886575"/>
            <a:ext cx="7239000" cy="353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</a:pPr>
            <a:r>
              <a:rPr lang="en-US" sz="2550" b="1" u="sng">
                <a:solidFill>
                  <a:srgbClr val="12385B"/>
                </a:solidFill>
                <a:latin typeface="DM Sans Bold"/>
                <a:ea typeface="DM Sans Bold"/>
                <a:cs typeface="DM Sans Bold"/>
                <a:sym typeface="DM Sans Bold"/>
              </a:rPr>
              <a:t>Chaitanya Dev Rajput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3000" y="7439025"/>
            <a:ext cx="10001250" cy="1607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17324D"/>
                </a:solidFill>
                <a:latin typeface="IBM Plex Sans"/>
                <a:ea typeface="IBM Plex Sans"/>
                <a:cs typeface="IBM Plex Sans"/>
                <a:sym typeface="IBM Plex Sans"/>
              </a:rPr>
              <a:t>25SCS1003002192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17324D"/>
                </a:solidFill>
                <a:latin typeface="IBM Plex Sans"/>
                <a:ea typeface="IBM Plex Sans"/>
                <a:cs typeface="IBM Plex Sans"/>
                <a:sym typeface="IBM Plex Sans"/>
              </a:rPr>
              <a:t>BTech CSE (AIML) , 2nd Semester</a:t>
            </a:r>
          </a:p>
          <a:p>
            <a:pPr algn="l">
              <a:lnSpc>
                <a:spcPts val="2556"/>
              </a:lnSpc>
            </a:pPr>
            <a:endParaRPr lang="en-US" sz="1800">
              <a:solidFill>
                <a:srgbClr val="17324D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17324D"/>
                </a:solidFill>
                <a:latin typeface="IBM Plex Sans"/>
                <a:ea typeface="IBM Plex Sans"/>
                <a:cs typeface="IBM Plex Sans"/>
                <a:sym typeface="IBM Plex Sans"/>
              </a:rPr>
              <a:t>Organization: NayePankh Foundation</a:t>
            </a:r>
          </a:p>
          <a:p>
            <a:pPr algn="l">
              <a:lnSpc>
                <a:spcPts val="2556"/>
              </a:lnSpc>
            </a:pPr>
            <a:r>
              <a:rPr lang="en-US" sz="1800">
                <a:solidFill>
                  <a:srgbClr val="17324D"/>
                </a:solidFill>
                <a:latin typeface="IBM Plex Sans"/>
                <a:ea typeface="IBM Plex Sans"/>
                <a:cs typeface="IBM Plex Sans"/>
                <a:sym typeface="IBM Plex Sans"/>
              </a:rPr>
              <a:t>Duration:  05th May, 26 – 06th Jun, 26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620750" y="5645468"/>
            <a:ext cx="3744966" cy="1757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39"/>
              </a:lnSpc>
            </a:pPr>
            <a:r>
              <a:rPr lang="en-US" sz="3931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ACADEMIC</a:t>
            </a:r>
          </a:p>
          <a:p>
            <a:pPr algn="l">
              <a:lnSpc>
                <a:spcPts val="4639"/>
              </a:lnSpc>
            </a:pPr>
            <a:r>
              <a:rPr lang="en-US" sz="3931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INTERNSHIP</a:t>
            </a:r>
          </a:p>
          <a:p>
            <a:pPr algn="l">
              <a:lnSpc>
                <a:spcPts val="4639"/>
              </a:lnSpc>
            </a:pPr>
            <a:r>
              <a:rPr lang="en-US" sz="3931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2026-27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38227" y="9872008"/>
            <a:ext cx="5248201" cy="25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4"/>
              </a:lnSpc>
              <a:spcBef>
                <a:spcPct val="0"/>
              </a:spcBef>
            </a:pPr>
            <a:r>
              <a:rPr lang="en-US" sz="155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NAYEPANKH FOUNDATION • INTERNSHIP PRESENTATION </a:t>
            </a:r>
          </a:p>
        </p:txBody>
      </p:sp>
      <p:sp>
        <p:nvSpPr>
          <p:cNvPr id="17" name="AutoShape 17"/>
          <p:cNvSpPr/>
          <p:nvPr/>
        </p:nvSpPr>
        <p:spPr>
          <a:xfrm>
            <a:off x="275568" y="9728341"/>
            <a:ext cx="11580403" cy="0"/>
          </a:xfrm>
          <a:prstGeom prst="line">
            <a:avLst/>
          </a:prstGeom>
          <a:ln w="9525" cap="flat">
            <a:gradFill>
              <a:gsLst>
                <a:gs pos="0">
                  <a:srgbClr val="000000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33350"/>
            <a:chOff x="0" y="0"/>
            <a:chExt cx="24384000" cy="177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77800"/>
            </a:xfrm>
            <a:custGeom>
              <a:avLst/>
              <a:gdLst/>
              <a:ahLst/>
              <a:cxnLst/>
              <a:rect l="l" t="t" r="r" b="b"/>
              <a:pathLst>
                <a:path w="24384000" h="1778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0F9D94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384000" cy="215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001250" y="0"/>
            <a:ext cx="8286750" cy="10287000"/>
          </a:xfrm>
          <a:custGeom>
            <a:avLst/>
            <a:gdLst/>
            <a:ahLst/>
            <a:cxnLst/>
            <a:rect l="l" t="t" r="r" b="b"/>
            <a:pathLst>
              <a:path w="8286750" h="10287000">
                <a:moveTo>
                  <a:pt x="0" y="0"/>
                </a:moveTo>
                <a:lnTo>
                  <a:pt x="8286750" y="0"/>
                </a:lnTo>
                <a:lnTo>
                  <a:pt x="82867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8892" r="-58892"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/>
          <p:cNvGrpSpPr/>
          <p:nvPr/>
        </p:nvGrpSpPr>
        <p:grpSpPr>
          <a:xfrm>
            <a:off x="10001250" y="0"/>
            <a:ext cx="8286750" cy="10287000"/>
            <a:chOff x="0" y="0"/>
            <a:chExt cx="11049000" cy="13716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049000" cy="13716000"/>
            </a:xfrm>
            <a:custGeom>
              <a:avLst/>
              <a:gdLst/>
              <a:ahLst/>
              <a:cxnLst/>
              <a:rect l="l" t="t" r="r" b="b"/>
              <a:pathLst>
                <a:path w="11049000" h="13716000">
                  <a:moveTo>
                    <a:pt x="0" y="0"/>
                  </a:moveTo>
                  <a:lnTo>
                    <a:pt x="11049000" y="0"/>
                  </a:lnTo>
                  <a:lnTo>
                    <a:pt x="11049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385B">
                <a:alpha val="1764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1049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143000" y="828675"/>
            <a:ext cx="6667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>
                <a:solidFill>
                  <a:srgbClr val="0F9D94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ORGANIZATION OVERVIEW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43000" y="1438275"/>
            <a:ext cx="7810500" cy="1491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32"/>
              </a:lnSpc>
            </a:pPr>
            <a:r>
              <a:rPr lang="en-US" sz="5400" b="1">
                <a:solidFill>
                  <a:srgbClr val="12385B"/>
                </a:solidFill>
                <a:latin typeface="DM Sans Bold"/>
                <a:ea typeface="DM Sans Bold"/>
                <a:cs typeface="DM Sans Bold"/>
                <a:sym typeface="DM Sans Bold"/>
              </a:rPr>
              <a:t>About NayePankh</a:t>
            </a:r>
          </a:p>
          <a:p>
            <a:pPr algn="l">
              <a:lnSpc>
                <a:spcPts val="5832"/>
              </a:lnSpc>
            </a:pPr>
            <a:r>
              <a:rPr lang="en-US" sz="5400" b="1">
                <a:solidFill>
                  <a:srgbClr val="12385B"/>
                </a:solidFill>
                <a:latin typeface="DM Sans Bold"/>
                <a:ea typeface="DM Sans Bold"/>
                <a:cs typeface="DM Sans Bold"/>
                <a:sym typeface="DM Sans Bold"/>
              </a:rPr>
              <a:t>Foundation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43000" y="3286125"/>
            <a:ext cx="7524750" cy="1158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8"/>
              </a:lnSpc>
            </a:pPr>
            <a:r>
              <a:rPr lang="en-US" sz="2175">
                <a:solidFill>
                  <a:srgbClr val="17324D"/>
                </a:solidFill>
                <a:latin typeface="IBM Plex Sans"/>
                <a:ea typeface="IBM Plex Sans"/>
                <a:cs typeface="IBM Plex Sans"/>
                <a:sym typeface="IBM Plex Sans"/>
              </a:rPr>
              <a:t>A nonprofit organization focused on charitable initiatives and fundraising support—connecting committed people with causes that need sustained action.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143000" y="5286375"/>
            <a:ext cx="4762500" cy="1095375"/>
            <a:chOff x="0" y="0"/>
            <a:chExt cx="6350000" cy="146050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101600" cy="1460500"/>
              <a:chOff x="0" y="0"/>
              <a:chExt cx="101600" cy="14605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01600" cy="14605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4605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1460500"/>
                    </a:lnTo>
                    <a:lnTo>
                      <a:pt x="0" y="1460500"/>
                    </a:lnTo>
                    <a:close/>
                  </a:path>
                </a:pathLst>
              </a:custGeom>
              <a:solidFill>
                <a:srgbClr val="0F9D9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101600" cy="1498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0" y="34925"/>
              <a:ext cx="6350000" cy="981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25"/>
                </a:lnSpc>
              </a:pPr>
              <a:r>
                <a:rPr lang="en-US" sz="2250" b="1">
                  <a:solidFill>
                    <a:srgbClr val="12385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PRASHANT SHUKLA</a:t>
              </a:r>
            </a:p>
            <a:p>
              <a:pPr algn="l">
                <a:lnSpc>
                  <a:spcPts val="2925"/>
                </a:lnSpc>
              </a:pPr>
              <a:r>
                <a:rPr lang="en-US" sz="2250" b="1">
                  <a:solidFill>
                    <a:srgbClr val="12385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Founder &amp; President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143000" y="6638925"/>
            <a:ext cx="7239000" cy="976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2"/>
              </a:lnSpc>
            </a:pPr>
            <a:r>
              <a:rPr lang="en-US" sz="1875">
                <a:solidFill>
                  <a:srgbClr val="17324D"/>
                </a:solidFill>
                <a:latin typeface="IBM Plex Sans"/>
                <a:ea typeface="IBM Plex Sans"/>
                <a:cs typeface="IBM Plex Sans"/>
                <a:sym typeface="IBM Plex Sans"/>
              </a:rPr>
              <a:t>Society Reg No.  KAP/04397/2021-2022</a:t>
            </a:r>
          </a:p>
          <a:p>
            <a:pPr algn="l">
              <a:lnSpc>
                <a:spcPts val="2662"/>
              </a:lnSpc>
            </a:pPr>
            <a:r>
              <a:rPr lang="en-US" sz="1875">
                <a:solidFill>
                  <a:srgbClr val="17324D"/>
                </a:solidFill>
                <a:latin typeface="IBM Plex Sans"/>
                <a:ea typeface="IBM Plex Sans"/>
                <a:cs typeface="IBM Plex Sans"/>
                <a:sym typeface="IBM Plex Sans"/>
              </a:rPr>
              <a:t>UP Govt.  |  80G &amp; 12A Registered</a:t>
            </a:r>
          </a:p>
          <a:p>
            <a:pPr algn="l">
              <a:lnSpc>
                <a:spcPts val="2662"/>
              </a:lnSpc>
            </a:pPr>
            <a:r>
              <a:rPr lang="en-US" sz="1875">
                <a:solidFill>
                  <a:srgbClr val="17324D"/>
                </a:solidFill>
                <a:latin typeface="IBM Plex Sans"/>
                <a:ea typeface="IBM Plex Sans"/>
                <a:cs typeface="IBM Plex Sans"/>
                <a:sym typeface="IBM Plex Sans"/>
              </a:rPr>
              <a:t>www.nayepankh.com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18939" y="9825038"/>
            <a:ext cx="5586561" cy="281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4"/>
              </a:lnSpc>
              <a:spcBef>
                <a:spcPct val="0"/>
              </a:spcBef>
            </a:pPr>
            <a:r>
              <a:rPr lang="en-US" sz="165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NAYEPANKH FOUNDATION • INTERNSHIP PRESENTATION </a:t>
            </a:r>
          </a:p>
        </p:txBody>
      </p:sp>
      <p:sp>
        <p:nvSpPr>
          <p:cNvPr id="19" name="AutoShape 19"/>
          <p:cNvSpPr/>
          <p:nvPr/>
        </p:nvSpPr>
        <p:spPr>
          <a:xfrm>
            <a:off x="318939" y="9659136"/>
            <a:ext cx="9451773" cy="0"/>
          </a:xfrm>
          <a:prstGeom prst="line">
            <a:avLst/>
          </a:prstGeom>
          <a:ln w="9525" cap="flat">
            <a:gradFill>
              <a:gsLst>
                <a:gs pos="0">
                  <a:srgbClr val="000000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33350"/>
            <a:chOff x="0" y="0"/>
            <a:chExt cx="24384000" cy="177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77800"/>
            </a:xfrm>
            <a:custGeom>
              <a:avLst/>
              <a:gdLst/>
              <a:ahLst/>
              <a:cxnLst/>
              <a:rect l="l" t="t" r="r" b="b"/>
              <a:pathLst>
                <a:path w="24384000" h="1778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0F9D9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384000" cy="215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143000" y="828675"/>
            <a:ext cx="6667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0F9D94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INTERNSHIP CERTIFICATE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1428750"/>
            <a:ext cx="7810500" cy="1525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 b="1">
                <a:solidFill>
                  <a:srgbClr val="12385B"/>
                </a:solidFill>
                <a:latin typeface="DM Sans Bold"/>
                <a:ea typeface="DM Sans Bold"/>
                <a:cs typeface="DM Sans Bold"/>
                <a:sym typeface="DM Sans Bold"/>
              </a:rPr>
              <a:t>Selection &amp;</a:t>
            </a:r>
          </a:p>
          <a:p>
            <a:pPr algn="l">
              <a:lnSpc>
                <a:spcPts val="5940"/>
              </a:lnSpc>
            </a:pPr>
            <a:r>
              <a:rPr lang="en-US" sz="5400" b="1">
                <a:solidFill>
                  <a:srgbClr val="12385B"/>
                </a:solidFill>
                <a:latin typeface="DM Sans Bold"/>
                <a:ea typeface="DM Sans Bold"/>
                <a:cs typeface="DM Sans Bold"/>
                <a:sym typeface="DM Sans Bold"/>
              </a:rPr>
              <a:t>Certification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85850" y="3028950"/>
            <a:ext cx="7258050" cy="5162550"/>
            <a:chOff x="0" y="0"/>
            <a:chExt cx="9677400" cy="6883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677400" cy="6883400"/>
            </a:xfrm>
            <a:custGeom>
              <a:avLst/>
              <a:gdLst/>
              <a:ahLst/>
              <a:cxnLst/>
              <a:rect l="l" t="t" r="r" b="b"/>
              <a:pathLst>
                <a:path w="9677400" h="6883400">
                  <a:moveTo>
                    <a:pt x="688340" y="0"/>
                  </a:moveTo>
                  <a:lnTo>
                    <a:pt x="8989060" y="0"/>
                  </a:lnTo>
                  <a:cubicBezTo>
                    <a:pt x="9171619" y="0"/>
                    <a:pt x="9346701" y="72521"/>
                    <a:pt x="9475790" y="201610"/>
                  </a:cubicBezTo>
                  <a:cubicBezTo>
                    <a:pt x="9604879" y="330699"/>
                    <a:pt x="9677400" y="505781"/>
                    <a:pt x="9677400" y="688340"/>
                  </a:cubicBezTo>
                  <a:lnTo>
                    <a:pt x="9677400" y="6195060"/>
                  </a:lnTo>
                  <a:cubicBezTo>
                    <a:pt x="9677400" y="6377619"/>
                    <a:pt x="9604879" y="6552701"/>
                    <a:pt x="9475790" y="6681790"/>
                  </a:cubicBezTo>
                  <a:cubicBezTo>
                    <a:pt x="9346701" y="6810879"/>
                    <a:pt x="9171619" y="6883400"/>
                    <a:pt x="8989060" y="6883400"/>
                  </a:cubicBezTo>
                  <a:lnTo>
                    <a:pt x="688340" y="6883400"/>
                  </a:lnTo>
                  <a:cubicBezTo>
                    <a:pt x="505781" y="6883400"/>
                    <a:pt x="330699" y="6810879"/>
                    <a:pt x="201610" y="6681790"/>
                  </a:cubicBezTo>
                  <a:cubicBezTo>
                    <a:pt x="72521" y="6552701"/>
                    <a:pt x="0" y="6377619"/>
                    <a:pt x="0" y="6195060"/>
                  </a:cubicBezTo>
                  <a:lnTo>
                    <a:pt x="0" y="688340"/>
                  </a:lnTo>
                  <a:cubicBezTo>
                    <a:pt x="0" y="308180"/>
                    <a:pt x="308180" y="0"/>
                    <a:pt x="688340" y="0"/>
                  </a:cubicBezTo>
                  <a:close/>
                </a:path>
              </a:pathLst>
            </a:custGeom>
            <a:solidFill>
              <a:srgbClr val="D0D8DE">
                <a:alpha val="49804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9677400" cy="692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28700" y="2952750"/>
            <a:ext cx="7258050" cy="5162550"/>
            <a:chOff x="0" y="0"/>
            <a:chExt cx="9677400" cy="6883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677400" cy="6883400"/>
            </a:xfrm>
            <a:custGeom>
              <a:avLst/>
              <a:gdLst/>
              <a:ahLst/>
              <a:cxnLst/>
              <a:rect l="l" t="t" r="r" b="b"/>
              <a:pathLst>
                <a:path w="9677400" h="6883400">
                  <a:moveTo>
                    <a:pt x="688340" y="0"/>
                  </a:moveTo>
                  <a:lnTo>
                    <a:pt x="8989060" y="0"/>
                  </a:lnTo>
                  <a:cubicBezTo>
                    <a:pt x="9171619" y="0"/>
                    <a:pt x="9346701" y="72521"/>
                    <a:pt x="9475790" y="201610"/>
                  </a:cubicBezTo>
                  <a:cubicBezTo>
                    <a:pt x="9604879" y="330699"/>
                    <a:pt x="9677400" y="505781"/>
                    <a:pt x="9677400" y="688340"/>
                  </a:cubicBezTo>
                  <a:lnTo>
                    <a:pt x="9677400" y="6195060"/>
                  </a:lnTo>
                  <a:cubicBezTo>
                    <a:pt x="9677400" y="6377619"/>
                    <a:pt x="9604879" y="6552701"/>
                    <a:pt x="9475790" y="6681790"/>
                  </a:cubicBezTo>
                  <a:cubicBezTo>
                    <a:pt x="9346701" y="6810879"/>
                    <a:pt x="9171619" y="6883400"/>
                    <a:pt x="8989060" y="6883400"/>
                  </a:cubicBezTo>
                  <a:lnTo>
                    <a:pt x="688340" y="6883400"/>
                  </a:lnTo>
                  <a:cubicBezTo>
                    <a:pt x="505781" y="6883400"/>
                    <a:pt x="330699" y="6810879"/>
                    <a:pt x="201610" y="6681790"/>
                  </a:cubicBezTo>
                  <a:cubicBezTo>
                    <a:pt x="72521" y="6552701"/>
                    <a:pt x="0" y="6377619"/>
                    <a:pt x="0" y="6195060"/>
                  </a:cubicBezTo>
                  <a:lnTo>
                    <a:pt x="0" y="688340"/>
                  </a:lnTo>
                  <a:cubicBezTo>
                    <a:pt x="0" y="308180"/>
                    <a:pt x="308180" y="0"/>
                    <a:pt x="68834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0D8DE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9677400" cy="692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085850" y="3028950"/>
            <a:ext cx="7200900" cy="5086350"/>
          </a:xfrm>
          <a:custGeom>
            <a:avLst/>
            <a:gdLst/>
            <a:ahLst/>
            <a:cxnLst/>
            <a:rect l="l" t="t" r="r" b="b"/>
            <a:pathLst>
              <a:path w="7200900" h="5086350">
                <a:moveTo>
                  <a:pt x="0" y="0"/>
                </a:moveTo>
                <a:lnTo>
                  <a:pt x="7200900" y="0"/>
                </a:lnTo>
                <a:lnTo>
                  <a:pt x="7200900" y="5086350"/>
                </a:lnTo>
                <a:lnTo>
                  <a:pt x="0" y="50863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6742" t="-41496" r="-2807" b="-14527"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11445071" y="2954655"/>
            <a:ext cx="5623771" cy="4186335"/>
            <a:chOff x="0" y="0"/>
            <a:chExt cx="7498361" cy="5581780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38100"/>
              <a:ext cx="7498361" cy="3720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4"/>
                </a:lnSpc>
              </a:pPr>
              <a:r>
                <a:rPr lang="en-US" sz="1653" b="1">
                  <a:solidFill>
                    <a:srgbClr val="0F9D94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Platform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331346"/>
              <a:ext cx="7498361" cy="6924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98"/>
                </a:lnSpc>
              </a:pPr>
              <a:r>
                <a:rPr lang="en-US" sz="3306">
                  <a:solidFill>
                    <a:srgbClr val="12385B"/>
                  </a:solidFill>
                  <a:latin typeface="DM Sans"/>
                  <a:ea typeface="DM Sans"/>
                  <a:cs typeface="DM Sans"/>
                  <a:sym typeface="DM Sans"/>
                </a:rPr>
                <a:t>Internshala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1161638"/>
              <a:ext cx="7498361" cy="3720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4"/>
                </a:lnSpc>
              </a:pPr>
              <a:r>
                <a:rPr lang="en-US" sz="1653" b="1">
                  <a:solidFill>
                    <a:srgbClr val="0F9D94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Internship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1531084"/>
              <a:ext cx="7498361" cy="6924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98"/>
                </a:lnSpc>
              </a:pPr>
              <a:r>
                <a:rPr lang="en-US" sz="3306">
                  <a:solidFill>
                    <a:srgbClr val="12385B"/>
                  </a:solidFill>
                  <a:latin typeface="DM Sans"/>
                  <a:ea typeface="DM Sans"/>
                  <a:cs typeface="DM Sans"/>
                  <a:sym typeface="DM Sans"/>
                </a:rPr>
                <a:t>Virtual Charity Drive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2361376"/>
              <a:ext cx="7498361" cy="3720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4"/>
                </a:lnSpc>
              </a:pPr>
              <a:r>
                <a:rPr lang="en-US" sz="1653" b="1">
                  <a:solidFill>
                    <a:srgbClr val="0F9D94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Organization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2730822"/>
              <a:ext cx="7498361" cy="6924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98"/>
                </a:lnSpc>
              </a:pPr>
              <a:r>
                <a:rPr lang="en-US" sz="3306">
                  <a:solidFill>
                    <a:srgbClr val="12385B"/>
                  </a:solidFill>
                  <a:latin typeface="DM Sans"/>
                  <a:ea typeface="DM Sans"/>
                  <a:cs typeface="DM Sans"/>
                  <a:sym typeface="DM Sans"/>
                </a:rPr>
                <a:t>NayePankh Foundation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3561113"/>
              <a:ext cx="7498361" cy="3720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4"/>
                </a:lnSpc>
              </a:pPr>
              <a:r>
                <a:rPr lang="en-US" sz="1653" b="1">
                  <a:solidFill>
                    <a:srgbClr val="0F9D94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Intern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3930560"/>
              <a:ext cx="7498361" cy="6924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98"/>
                </a:lnSpc>
              </a:pPr>
              <a:r>
                <a:rPr lang="en-US" sz="3306">
                  <a:solidFill>
                    <a:srgbClr val="12385B"/>
                  </a:solidFill>
                  <a:latin typeface="DM Sans"/>
                  <a:ea typeface="DM Sans"/>
                  <a:cs typeface="DM Sans"/>
                  <a:sym typeface="DM Sans"/>
                </a:rPr>
                <a:t>Chaitanya Dev Rajput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4760851"/>
              <a:ext cx="7498361" cy="3720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4"/>
                </a:lnSpc>
              </a:pPr>
              <a:r>
                <a:rPr lang="en-US" sz="1653" b="1">
                  <a:solidFill>
                    <a:srgbClr val="0F9D94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Selection &amp; Certificate Date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5111248"/>
              <a:ext cx="7498361" cy="4705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75"/>
                </a:lnSpc>
              </a:pPr>
              <a:r>
                <a:rPr lang="en-US" sz="2125">
                  <a:solidFill>
                    <a:srgbClr val="17324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Secured via Internshala portal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978148" y="2952750"/>
            <a:ext cx="47625" cy="4188240"/>
            <a:chOff x="0" y="0"/>
            <a:chExt cx="63500" cy="558432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3500" cy="5584320"/>
            </a:xfrm>
            <a:custGeom>
              <a:avLst/>
              <a:gdLst/>
              <a:ahLst/>
              <a:cxnLst/>
              <a:rect l="l" t="t" r="r" b="b"/>
              <a:pathLst>
                <a:path w="63500" h="5584320">
                  <a:moveTo>
                    <a:pt x="0" y="0"/>
                  </a:moveTo>
                  <a:lnTo>
                    <a:pt x="63500" y="0"/>
                  </a:lnTo>
                  <a:lnTo>
                    <a:pt x="63500" y="5584320"/>
                  </a:lnTo>
                  <a:lnTo>
                    <a:pt x="0" y="5584320"/>
                  </a:lnTo>
                  <a:close/>
                </a:path>
              </a:pathLst>
            </a:custGeom>
            <a:solidFill>
              <a:srgbClr val="0F9D94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63500" cy="56224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860118" y="9842596"/>
            <a:ext cx="488885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NAYEPANKH FOUNDATION • INTERNSHIP PRESENTATION </a:t>
            </a:r>
          </a:p>
        </p:txBody>
      </p:sp>
      <p:sp>
        <p:nvSpPr>
          <p:cNvPr id="29" name="AutoShape 29"/>
          <p:cNvSpPr/>
          <p:nvPr/>
        </p:nvSpPr>
        <p:spPr>
          <a:xfrm>
            <a:off x="208660" y="9659136"/>
            <a:ext cx="17790283" cy="0"/>
          </a:xfrm>
          <a:prstGeom prst="line">
            <a:avLst/>
          </a:prstGeom>
          <a:ln w="9525" cap="flat">
            <a:gradFill>
              <a:gsLst>
                <a:gs pos="0">
                  <a:srgbClr val="000000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33350"/>
            <a:chOff x="0" y="0"/>
            <a:chExt cx="24384000" cy="177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77800"/>
            </a:xfrm>
            <a:custGeom>
              <a:avLst/>
              <a:gdLst/>
              <a:ahLst/>
              <a:cxnLst/>
              <a:rect l="l" t="t" r="r" b="b"/>
              <a:pathLst>
                <a:path w="24384000" h="1778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0F9D94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384000" cy="215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57250" y="2857500"/>
            <a:ext cx="7239000" cy="2476500"/>
            <a:chOff x="0" y="0"/>
            <a:chExt cx="9652000" cy="3302000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9652000" cy="3302000"/>
              <a:chOff x="0" y="0"/>
              <a:chExt cx="9652000" cy="33020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652000" cy="3302000"/>
              </a:xfrm>
              <a:custGeom>
                <a:avLst/>
                <a:gdLst/>
                <a:ahLst/>
                <a:cxnLst/>
                <a:rect l="l" t="t" r="r" b="b"/>
                <a:pathLst>
                  <a:path w="9652000" h="330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12385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652000" cy="3340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381000" y="250825"/>
              <a:ext cx="9144000" cy="8489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459"/>
                </a:lnSpc>
              </a:pPr>
              <a:r>
                <a:rPr lang="en-US" sz="3900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Fundraising Intern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81000" y="1285875"/>
              <a:ext cx="914400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Virtual Charity Drive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143000" y="828675"/>
            <a:ext cx="4762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>
                <a:solidFill>
                  <a:srgbClr val="0F9D94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ROLE &amp; PURPOSE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43000" y="1438275"/>
            <a:ext cx="8572500" cy="758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32"/>
              </a:lnSpc>
            </a:pPr>
            <a:r>
              <a:rPr lang="en-US" sz="5400" b="1">
                <a:solidFill>
                  <a:srgbClr val="12385B"/>
                </a:solidFill>
                <a:latin typeface="DM Sans Bold"/>
                <a:ea typeface="DM Sans Bold"/>
                <a:cs typeface="DM Sans Bold"/>
                <a:sym typeface="DM Sans Bold"/>
              </a:rPr>
              <a:t>Internship Scope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858250" y="3124200"/>
            <a:ext cx="7143750" cy="1305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2"/>
              </a:lnSpc>
            </a:pPr>
            <a:r>
              <a:rPr lang="en-US" sz="3150" b="1">
                <a:solidFill>
                  <a:srgbClr val="12385B"/>
                </a:solidFill>
                <a:latin typeface="DM Sans Bold"/>
                <a:ea typeface="DM Sans Bold"/>
                <a:cs typeface="DM Sans Bold"/>
                <a:sym typeface="DM Sans Bold"/>
              </a:rPr>
              <a:t>Support online fundraising efforts and strengthen outreach for charitable activities.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3000" y="6829425"/>
            <a:ext cx="2857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>
                <a:solidFill>
                  <a:srgbClr val="0F9D94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ONE MONTH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3000" y="7362825"/>
            <a:ext cx="6858000" cy="353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</a:pPr>
            <a:r>
              <a:rPr lang="en-US" sz="2550" b="1">
                <a:solidFill>
                  <a:srgbClr val="12385B"/>
                </a:solidFill>
                <a:latin typeface="DM Sans Bold"/>
                <a:ea typeface="DM Sans Bold"/>
                <a:cs typeface="DM Sans Bold"/>
                <a:sym typeface="DM Sans Bold"/>
              </a:rPr>
              <a:t>05th May, 26 — 06th Jun, 26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8858250" y="6096000"/>
            <a:ext cx="2190750" cy="821055"/>
            <a:chOff x="0" y="0"/>
            <a:chExt cx="2921000" cy="1094740"/>
          </a:xfrm>
        </p:grpSpPr>
        <p:grpSp>
          <p:nvGrpSpPr>
            <p:cNvPr id="17" name="Group 17"/>
            <p:cNvGrpSpPr/>
            <p:nvPr/>
          </p:nvGrpSpPr>
          <p:grpSpPr>
            <a:xfrm>
              <a:off x="1016000" y="0"/>
              <a:ext cx="889000" cy="889000"/>
              <a:chOff x="0" y="0"/>
              <a:chExt cx="889000" cy="8890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89000" cy="889000"/>
              </a:xfrm>
              <a:custGeom>
                <a:avLst/>
                <a:gdLst/>
                <a:ahLst/>
                <a:cxnLst/>
                <a:rect l="l" t="t" r="r" b="b"/>
                <a:pathLst>
                  <a:path w="889000" h="889000">
                    <a:moveTo>
                      <a:pt x="444500" y="0"/>
                    </a:moveTo>
                    <a:cubicBezTo>
                      <a:pt x="689991" y="0"/>
                      <a:pt x="889000" y="199009"/>
                      <a:pt x="889000" y="444500"/>
                    </a:cubicBezTo>
                    <a:cubicBezTo>
                      <a:pt x="889000" y="689991"/>
                      <a:pt x="689991" y="889000"/>
                      <a:pt x="444500" y="889000"/>
                    </a:cubicBezTo>
                    <a:cubicBezTo>
                      <a:pt x="199009" y="889000"/>
                      <a:pt x="0" y="689991"/>
                      <a:pt x="0" y="444500"/>
                    </a:cubicBezTo>
                    <a:cubicBezTo>
                      <a:pt x="0" y="199009"/>
                      <a:pt x="199009" y="0"/>
                      <a:pt x="444500" y="0"/>
                    </a:cubicBezTo>
                    <a:close/>
                  </a:path>
                </a:pathLst>
              </a:custGeom>
              <a:solidFill>
                <a:srgbClr val="0F9D94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0" y="860425"/>
              <a:ext cx="2921000" cy="2343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70"/>
                </a:lnSpc>
              </a:pPr>
              <a:r>
                <a:rPr lang="en-US" sz="1050" b="1" spc="126">
                  <a:solidFill>
                    <a:srgbClr val="0F9D94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DIGITAL COMMUNICATION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430000" y="6096000"/>
            <a:ext cx="2190750" cy="870585"/>
            <a:chOff x="0" y="0"/>
            <a:chExt cx="2921000" cy="1160780"/>
          </a:xfrm>
        </p:grpSpPr>
        <p:grpSp>
          <p:nvGrpSpPr>
            <p:cNvPr id="21" name="Group 21"/>
            <p:cNvGrpSpPr/>
            <p:nvPr/>
          </p:nvGrpSpPr>
          <p:grpSpPr>
            <a:xfrm>
              <a:off x="1016000" y="0"/>
              <a:ext cx="889000" cy="889000"/>
              <a:chOff x="0" y="0"/>
              <a:chExt cx="889000" cy="8890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89000" cy="889000"/>
              </a:xfrm>
              <a:custGeom>
                <a:avLst/>
                <a:gdLst/>
                <a:ahLst/>
                <a:cxnLst/>
                <a:rect l="l" t="t" r="r" b="b"/>
                <a:pathLst>
                  <a:path w="889000" h="889000">
                    <a:moveTo>
                      <a:pt x="444500" y="0"/>
                    </a:moveTo>
                    <a:cubicBezTo>
                      <a:pt x="689991" y="0"/>
                      <a:pt x="889000" y="199009"/>
                      <a:pt x="889000" y="444500"/>
                    </a:cubicBezTo>
                    <a:cubicBezTo>
                      <a:pt x="889000" y="689991"/>
                      <a:pt x="689991" y="889000"/>
                      <a:pt x="444500" y="889000"/>
                    </a:cubicBezTo>
                    <a:cubicBezTo>
                      <a:pt x="199009" y="889000"/>
                      <a:pt x="0" y="689991"/>
                      <a:pt x="0" y="444500"/>
                    </a:cubicBezTo>
                    <a:cubicBezTo>
                      <a:pt x="0" y="199009"/>
                      <a:pt x="199009" y="0"/>
                      <a:pt x="444500" y="0"/>
                    </a:cubicBezTo>
                    <a:close/>
                  </a:path>
                </a:pathLst>
              </a:custGeom>
              <a:solidFill>
                <a:srgbClr val="176B9C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0" y="860425"/>
              <a:ext cx="2921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 b="1" spc="162">
                  <a:solidFill>
                    <a:srgbClr val="0F9D94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DONOR ENGAGEMENT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4001750" y="6096000"/>
            <a:ext cx="2190750" cy="821055"/>
            <a:chOff x="0" y="0"/>
            <a:chExt cx="2921000" cy="1094740"/>
          </a:xfrm>
        </p:grpSpPr>
        <p:grpSp>
          <p:nvGrpSpPr>
            <p:cNvPr id="25" name="Group 25"/>
            <p:cNvGrpSpPr/>
            <p:nvPr/>
          </p:nvGrpSpPr>
          <p:grpSpPr>
            <a:xfrm>
              <a:off x="1016000" y="0"/>
              <a:ext cx="889000" cy="889000"/>
              <a:chOff x="0" y="0"/>
              <a:chExt cx="889000" cy="8890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889000" cy="889000"/>
              </a:xfrm>
              <a:custGeom>
                <a:avLst/>
                <a:gdLst/>
                <a:ahLst/>
                <a:cxnLst/>
                <a:rect l="l" t="t" r="r" b="b"/>
                <a:pathLst>
                  <a:path w="889000" h="889000">
                    <a:moveTo>
                      <a:pt x="444500" y="0"/>
                    </a:moveTo>
                    <a:cubicBezTo>
                      <a:pt x="689991" y="0"/>
                      <a:pt x="889000" y="199009"/>
                      <a:pt x="889000" y="444500"/>
                    </a:cubicBezTo>
                    <a:cubicBezTo>
                      <a:pt x="889000" y="689991"/>
                      <a:pt x="689991" y="889000"/>
                      <a:pt x="444500" y="889000"/>
                    </a:cubicBezTo>
                    <a:cubicBezTo>
                      <a:pt x="199009" y="889000"/>
                      <a:pt x="0" y="689991"/>
                      <a:pt x="0" y="444500"/>
                    </a:cubicBezTo>
                    <a:cubicBezTo>
                      <a:pt x="0" y="199009"/>
                      <a:pt x="199009" y="0"/>
                      <a:pt x="444500" y="0"/>
                    </a:cubicBezTo>
                    <a:close/>
                  </a:path>
                </a:pathLst>
              </a:custGeom>
              <a:solidFill>
                <a:srgbClr val="0F9D94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0" y="860425"/>
              <a:ext cx="2921000" cy="2343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70"/>
                </a:lnSpc>
              </a:pPr>
              <a:r>
                <a:rPr lang="en-US" sz="1050" b="1" spc="126">
                  <a:solidFill>
                    <a:srgbClr val="0F9D94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CAMPAIGN COORDINATION</a:t>
              </a:r>
            </a:p>
          </p:txBody>
        </p:sp>
      </p:grpSp>
      <p:sp>
        <p:nvSpPr>
          <p:cNvPr id="28" name="AutoShape 28"/>
          <p:cNvSpPr/>
          <p:nvPr/>
        </p:nvSpPr>
        <p:spPr>
          <a:xfrm>
            <a:off x="1143000" y="9467850"/>
            <a:ext cx="16002000" cy="0"/>
          </a:xfrm>
          <a:prstGeom prst="line">
            <a:avLst/>
          </a:prstGeom>
          <a:ln w="19050" cap="flat">
            <a:solidFill>
              <a:srgbClr val="CBDDE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" name="TextBox 29"/>
          <p:cNvSpPr txBox="1"/>
          <p:nvPr/>
        </p:nvSpPr>
        <p:spPr>
          <a:xfrm>
            <a:off x="1143000" y="9667875"/>
            <a:ext cx="16002000" cy="23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617589"/>
                </a:solidFill>
                <a:latin typeface="IBM Plex Sans"/>
                <a:ea typeface="IBM Plex Sans"/>
                <a:cs typeface="IBM Plex Sans"/>
                <a:sym typeface="IBM Plex Sans"/>
              </a:rPr>
              <a:t>NAYEPANKH FOUNDATION  •  INTERNSHIP PRESENTATION                                    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33350"/>
            <a:chOff x="0" y="0"/>
            <a:chExt cx="24384000" cy="177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77800"/>
            </a:xfrm>
            <a:custGeom>
              <a:avLst/>
              <a:gdLst/>
              <a:ahLst/>
              <a:cxnLst/>
              <a:rect l="l" t="t" r="r" b="b"/>
              <a:pathLst>
                <a:path w="24384000" h="1778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0F9D94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384000" cy="215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143000" y="828675"/>
            <a:ext cx="5715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>
                <a:solidFill>
                  <a:srgbClr val="0F9D94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FIVE-STAGE PROGRESSION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1428750"/>
            <a:ext cx="12382500" cy="725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08"/>
              </a:lnSpc>
            </a:pPr>
            <a:r>
              <a:rPr lang="en-US" sz="5100" b="1">
                <a:solidFill>
                  <a:srgbClr val="12385B"/>
                </a:solidFill>
                <a:latin typeface="DM Sans Bold"/>
                <a:ea typeface="DM Sans Bold"/>
                <a:cs typeface="DM Sans Bold"/>
                <a:sym typeface="DM Sans Bold"/>
              </a:rPr>
              <a:t>Virtual Charity Drive Workflow</a:t>
            </a:r>
          </a:p>
        </p:txBody>
      </p:sp>
      <p:sp>
        <p:nvSpPr>
          <p:cNvPr id="7" name="AutoShape 7"/>
          <p:cNvSpPr/>
          <p:nvPr/>
        </p:nvSpPr>
        <p:spPr>
          <a:xfrm>
            <a:off x="2095500" y="4857750"/>
            <a:ext cx="14097000" cy="0"/>
          </a:xfrm>
          <a:prstGeom prst="line">
            <a:avLst/>
          </a:prstGeom>
          <a:ln w="57150" cap="rnd">
            <a:solidFill>
              <a:srgbClr val="CBDDE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1143000" y="4286250"/>
            <a:ext cx="2286000" cy="2521267"/>
            <a:chOff x="0" y="0"/>
            <a:chExt cx="3048000" cy="3361690"/>
          </a:xfrm>
        </p:grpSpPr>
        <p:grpSp>
          <p:nvGrpSpPr>
            <p:cNvPr id="9" name="Group 9"/>
            <p:cNvGrpSpPr/>
            <p:nvPr/>
          </p:nvGrpSpPr>
          <p:grpSpPr>
            <a:xfrm>
              <a:off x="889000" y="0"/>
              <a:ext cx="1270000" cy="1270000"/>
              <a:chOff x="0" y="0"/>
              <a:chExt cx="1270000" cy="1270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270000" cy="1270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0" h="1270000">
                    <a:moveTo>
                      <a:pt x="635000" y="0"/>
                    </a:moveTo>
                    <a:cubicBezTo>
                      <a:pt x="985701" y="0"/>
                      <a:pt x="1270000" y="284299"/>
                      <a:pt x="1270000" y="635000"/>
                    </a:cubicBezTo>
                    <a:cubicBezTo>
                      <a:pt x="1270000" y="985701"/>
                      <a:pt x="985701" y="1270000"/>
                      <a:pt x="635000" y="1270000"/>
                    </a:cubicBezTo>
                    <a:cubicBezTo>
                      <a:pt x="284299" y="1270000"/>
                      <a:pt x="0" y="985701"/>
                      <a:pt x="0" y="635000"/>
                    </a:cubicBezTo>
                    <a:cubicBezTo>
                      <a:pt x="0" y="284299"/>
                      <a:pt x="284299" y="0"/>
                      <a:pt x="635000" y="0"/>
                    </a:cubicBezTo>
                    <a:close/>
                  </a:path>
                </a:pathLst>
              </a:custGeom>
              <a:solidFill>
                <a:srgbClr val="0F9D94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889000" y="142875"/>
              <a:ext cx="127000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en-US" sz="2100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924050"/>
              <a:ext cx="3048000" cy="4330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0"/>
                </a:lnSpc>
              </a:pPr>
              <a:r>
                <a:rPr lang="en-US" sz="2250" b="1">
                  <a:solidFill>
                    <a:srgbClr val="12385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Orientation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2638425"/>
              <a:ext cx="3048000" cy="7232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27"/>
                </a:lnSpc>
              </a:pPr>
              <a:r>
                <a:rPr lang="en-US" sz="1650">
                  <a:solidFill>
                    <a:srgbClr val="617589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Mission, goals &amp; requirements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476750" y="4286250"/>
            <a:ext cx="2286000" cy="2521267"/>
            <a:chOff x="0" y="0"/>
            <a:chExt cx="3048000" cy="3361690"/>
          </a:xfrm>
        </p:grpSpPr>
        <p:grpSp>
          <p:nvGrpSpPr>
            <p:cNvPr id="15" name="Group 15"/>
            <p:cNvGrpSpPr/>
            <p:nvPr/>
          </p:nvGrpSpPr>
          <p:grpSpPr>
            <a:xfrm>
              <a:off x="889000" y="0"/>
              <a:ext cx="1270000" cy="1270000"/>
              <a:chOff x="0" y="0"/>
              <a:chExt cx="1270000" cy="1270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270000" cy="1270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0" h="1270000">
                    <a:moveTo>
                      <a:pt x="635000" y="0"/>
                    </a:moveTo>
                    <a:cubicBezTo>
                      <a:pt x="985701" y="0"/>
                      <a:pt x="1270000" y="284299"/>
                      <a:pt x="1270000" y="635000"/>
                    </a:cubicBezTo>
                    <a:cubicBezTo>
                      <a:pt x="1270000" y="985701"/>
                      <a:pt x="985701" y="1270000"/>
                      <a:pt x="635000" y="1270000"/>
                    </a:cubicBezTo>
                    <a:cubicBezTo>
                      <a:pt x="284299" y="1270000"/>
                      <a:pt x="0" y="985701"/>
                      <a:pt x="0" y="635000"/>
                    </a:cubicBezTo>
                    <a:cubicBezTo>
                      <a:pt x="0" y="284299"/>
                      <a:pt x="284299" y="0"/>
                      <a:pt x="635000" y="0"/>
                    </a:cubicBezTo>
                    <a:close/>
                  </a:path>
                </a:pathLst>
              </a:custGeom>
              <a:solidFill>
                <a:srgbClr val="0F9D94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889000" y="142875"/>
              <a:ext cx="127000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en-US" sz="2100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1924050"/>
              <a:ext cx="3048000" cy="4330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0"/>
                </a:lnSpc>
              </a:pPr>
              <a:r>
                <a:rPr lang="en-US" sz="2250" b="1">
                  <a:solidFill>
                    <a:srgbClr val="12385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Planning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2638425"/>
              <a:ext cx="3048000" cy="7232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27"/>
                </a:lnSpc>
              </a:pPr>
              <a:r>
                <a:rPr lang="en-US" sz="1650">
                  <a:solidFill>
                    <a:srgbClr val="617589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Channels, messaging &amp; audiences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810500" y="4286250"/>
            <a:ext cx="2286000" cy="2521267"/>
            <a:chOff x="0" y="0"/>
            <a:chExt cx="3048000" cy="3361690"/>
          </a:xfrm>
        </p:grpSpPr>
        <p:grpSp>
          <p:nvGrpSpPr>
            <p:cNvPr id="21" name="Group 21"/>
            <p:cNvGrpSpPr/>
            <p:nvPr/>
          </p:nvGrpSpPr>
          <p:grpSpPr>
            <a:xfrm>
              <a:off x="889000" y="0"/>
              <a:ext cx="1270000" cy="1270000"/>
              <a:chOff x="0" y="0"/>
              <a:chExt cx="1270000" cy="12700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270000" cy="1270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0" h="1270000">
                    <a:moveTo>
                      <a:pt x="635000" y="0"/>
                    </a:moveTo>
                    <a:cubicBezTo>
                      <a:pt x="985701" y="0"/>
                      <a:pt x="1270000" y="284299"/>
                      <a:pt x="1270000" y="635000"/>
                    </a:cubicBezTo>
                    <a:cubicBezTo>
                      <a:pt x="1270000" y="985701"/>
                      <a:pt x="985701" y="1270000"/>
                      <a:pt x="635000" y="1270000"/>
                    </a:cubicBezTo>
                    <a:cubicBezTo>
                      <a:pt x="284299" y="1270000"/>
                      <a:pt x="0" y="985701"/>
                      <a:pt x="0" y="635000"/>
                    </a:cubicBezTo>
                    <a:cubicBezTo>
                      <a:pt x="0" y="284299"/>
                      <a:pt x="284299" y="0"/>
                      <a:pt x="635000" y="0"/>
                    </a:cubicBezTo>
                    <a:close/>
                  </a:path>
                </a:pathLst>
              </a:custGeom>
              <a:solidFill>
                <a:srgbClr val="176B9C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889000" y="142875"/>
              <a:ext cx="127000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en-US" sz="2100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1924050"/>
              <a:ext cx="3048000" cy="4330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0"/>
                </a:lnSpc>
              </a:pPr>
              <a:r>
                <a:rPr lang="en-US" sz="2250" b="1">
                  <a:solidFill>
                    <a:srgbClr val="12385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Outreach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2638425"/>
              <a:ext cx="3048000" cy="7232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27"/>
                </a:lnSpc>
              </a:pPr>
              <a:r>
                <a:rPr lang="en-US" sz="1650">
                  <a:solidFill>
                    <a:srgbClr val="617589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Virtual platforms &amp; networks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144250" y="4286250"/>
            <a:ext cx="2286000" cy="2521267"/>
            <a:chOff x="0" y="0"/>
            <a:chExt cx="3048000" cy="3361690"/>
          </a:xfrm>
        </p:grpSpPr>
        <p:grpSp>
          <p:nvGrpSpPr>
            <p:cNvPr id="27" name="Group 27"/>
            <p:cNvGrpSpPr/>
            <p:nvPr/>
          </p:nvGrpSpPr>
          <p:grpSpPr>
            <a:xfrm>
              <a:off x="889000" y="0"/>
              <a:ext cx="1270000" cy="1270000"/>
              <a:chOff x="0" y="0"/>
              <a:chExt cx="1270000" cy="12700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1270000" cy="1270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0" h="1270000">
                    <a:moveTo>
                      <a:pt x="635000" y="0"/>
                    </a:moveTo>
                    <a:cubicBezTo>
                      <a:pt x="985701" y="0"/>
                      <a:pt x="1270000" y="284299"/>
                      <a:pt x="1270000" y="635000"/>
                    </a:cubicBezTo>
                    <a:cubicBezTo>
                      <a:pt x="1270000" y="985701"/>
                      <a:pt x="985701" y="1270000"/>
                      <a:pt x="635000" y="1270000"/>
                    </a:cubicBezTo>
                    <a:cubicBezTo>
                      <a:pt x="284299" y="1270000"/>
                      <a:pt x="0" y="985701"/>
                      <a:pt x="0" y="635000"/>
                    </a:cubicBezTo>
                    <a:cubicBezTo>
                      <a:pt x="0" y="284299"/>
                      <a:pt x="284299" y="0"/>
                      <a:pt x="635000" y="0"/>
                    </a:cubicBezTo>
                    <a:close/>
                  </a:path>
                </a:pathLst>
              </a:custGeom>
              <a:solidFill>
                <a:srgbClr val="0F9D94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889000" y="142875"/>
              <a:ext cx="127000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en-US" sz="2100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1924050"/>
              <a:ext cx="3048000" cy="4330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0"/>
                </a:lnSpc>
              </a:pPr>
              <a:r>
                <a:rPr lang="en-US" sz="2250" b="1">
                  <a:solidFill>
                    <a:srgbClr val="12385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Engagement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2638425"/>
              <a:ext cx="3048000" cy="7232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27"/>
                </a:lnSpc>
              </a:pPr>
              <a:r>
                <a:rPr lang="en-US" sz="1650">
                  <a:solidFill>
                    <a:srgbClr val="617589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Queries, participation &amp; follow-up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4478000" y="4286250"/>
            <a:ext cx="2286000" cy="2521267"/>
            <a:chOff x="0" y="0"/>
            <a:chExt cx="3048000" cy="3361690"/>
          </a:xfrm>
        </p:grpSpPr>
        <p:grpSp>
          <p:nvGrpSpPr>
            <p:cNvPr id="33" name="Group 33"/>
            <p:cNvGrpSpPr/>
            <p:nvPr/>
          </p:nvGrpSpPr>
          <p:grpSpPr>
            <a:xfrm>
              <a:off x="889000" y="0"/>
              <a:ext cx="1270000" cy="1270000"/>
              <a:chOff x="0" y="0"/>
              <a:chExt cx="1270000" cy="12700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1270000" cy="1270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0" h="1270000">
                    <a:moveTo>
                      <a:pt x="635000" y="0"/>
                    </a:moveTo>
                    <a:cubicBezTo>
                      <a:pt x="985701" y="0"/>
                      <a:pt x="1270000" y="284299"/>
                      <a:pt x="1270000" y="635000"/>
                    </a:cubicBezTo>
                    <a:cubicBezTo>
                      <a:pt x="1270000" y="985701"/>
                      <a:pt x="985701" y="1270000"/>
                      <a:pt x="635000" y="1270000"/>
                    </a:cubicBezTo>
                    <a:cubicBezTo>
                      <a:pt x="284299" y="1270000"/>
                      <a:pt x="0" y="985701"/>
                      <a:pt x="0" y="635000"/>
                    </a:cubicBezTo>
                    <a:cubicBezTo>
                      <a:pt x="0" y="284299"/>
                      <a:pt x="284299" y="0"/>
                      <a:pt x="635000" y="0"/>
                    </a:cubicBezTo>
                    <a:close/>
                  </a:path>
                </a:pathLst>
              </a:custGeom>
              <a:solidFill>
                <a:srgbClr val="0F9D94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889000" y="142875"/>
              <a:ext cx="127000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en-US" sz="2100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1924050"/>
              <a:ext cx="3048000" cy="4330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0"/>
                </a:lnSpc>
              </a:pPr>
              <a:r>
                <a:rPr lang="en-US" sz="2250" b="1">
                  <a:solidFill>
                    <a:srgbClr val="12385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Review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2638425"/>
              <a:ext cx="3048000" cy="7232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27"/>
                </a:lnSpc>
              </a:pPr>
              <a:r>
                <a:rPr lang="en-US" sz="1650">
                  <a:solidFill>
                    <a:srgbClr val="617589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Progress, results &amp; learnings</a:t>
              </a:r>
            </a:p>
          </p:txBody>
        </p:sp>
      </p:grpSp>
      <p:sp>
        <p:nvSpPr>
          <p:cNvPr id="38" name="AutoShape 38"/>
          <p:cNvSpPr/>
          <p:nvPr/>
        </p:nvSpPr>
        <p:spPr>
          <a:xfrm>
            <a:off x="1143000" y="9467850"/>
            <a:ext cx="16002000" cy="0"/>
          </a:xfrm>
          <a:prstGeom prst="line">
            <a:avLst/>
          </a:prstGeom>
          <a:ln w="19050" cap="flat">
            <a:solidFill>
              <a:srgbClr val="CBDDE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9" name="TextBox 39"/>
          <p:cNvSpPr txBox="1"/>
          <p:nvPr/>
        </p:nvSpPr>
        <p:spPr>
          <a:xfrm>
            <a:off x="1143000" y="9667875"/>
            <a:ext cx="16002000" cy="23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617589"/>
                </a:solidFill>
                <a:latin typeface="IBM Plex Sans"/>
                <a:ea typeface="IBM Plex Sans"/>
                <a:cs typeface="IBM Plex Sans"/>
                <a:sym typeface="IBM Plex Sans"/>
              </a:rPr>
              <a:t>NAYEPANKH FOUNDATION  •  INTERNSHIP PRESENTATION                                    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33350"/>
            <a:chOff x="0" y="0"/>
            <a:chExt cx="24384000" cy="177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77800"/>
            </a:xfrm>
            <a:custGeom>
              <a:avLst/>
              <a:gdLst/>
              <a:ahLst/>
              <a:cxnLst/>
              <a:rect l="l" t="t" r="r" b="b"/>
              <a:pathLst>
                <a:path w="24384000" h="1778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0F9D94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384000" cy="215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143000" y="828675"/>
            <a:ext cx="5715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>
                <a:solidFill>
                  <a:srgbClr val="0F9D94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KEY RESPONSIBILITIES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1428750"/>
            <a:ext cx="11430000" cy="725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08"/>
              </a:lnSpc>
            </a:pPr>
            <a:r>
              <a:rPr lang="en-US" sz="5100" b="1">
                <a:solidFill>
                  <a:srgbClr val="12385B"/>
                </a:solidFill>
                <a:latin typeface="DM Sans Bold"/>
                <a:ea typeface="DM Sans Bold"/>
                <a:cs typeface="DM Sans Bold"/>
                <a:sym typeface="DM Sans Bold"/>
              </a:rPr>
              <a:t>Work performed &amp; supported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43000" y="2352675"/>
            <a:ext cx="9525000" cy="29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617589"/>
                </a:solidFill>
                <a:latin typeface="IBM Plex Sans"/>
                <a:ea typeface="IBM Plex Sans"/>
                <a:cs typeface="IBM Plex Sans"/>
                <a:sym typeface="IBM Plex Sans"/>
              </a:rPr>
              <a:t>Aligned to the documented scope of the Virtual Charity Drive internship.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04875" y="3190875"/>
            <a:ext cx="7239000" cy="1333500"/>
            <a:chOff x="0" y="0"/>
            <a:chExt cx="9652000" cy="177800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9652000" cy="1778000"/>
              <a:chOff x="0" y="0"/>
              <a:chExt cx="9652000" cy="1778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9652000" cy="1778000"/>
              </a:xfrm>
              <a:custGeom>
                <a:avLst/>
                <a:gdLst/>
                <a:ahLst/>
                <a:cxnLst/>
                <a:rect l="l" t="t" r="r" b="b"/>
                <a:pathLst>
                  <a:path w="9652000" h="1778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1778000"/>
                    </a:lnTo>
                    <a:lnTo>
                      <a:pt x="0" y="1778000"/>
                    </a:lnTo>
                    <a:close/>
                  </a:path>
                </a:pathLst>
              </a:custGeom>
              <a:solidFill>
                <a:srgbClr val="F7FAF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9652000" cy="1816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317500" y="269875"/>
              <a:ext cx="1143000" cy="558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 b="1">
                  <a:solidFill>
                    <a:srgbClr val="0F9D9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78000" y="336550"/>
              <a:ext cx="7747000" cy="8125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49"/>
                </a:lnSpc>
              </a:pPr>
              <a:r>
                <a:rPr lang="en-US" sz="2175" b="1">
                  <a:solidFill>
                    <a:srgbClr val="12385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Promoting the drive through digital communication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810625" y="3190875"/>
            <a:ext cx="7239000" cy="1333500"/>
            <a:chOff x="0" y="0"/>
            <a:chExt cx="9652000" cy="1778000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9652000" cy="1778000"/>
              <a:chOff x="0" y="0"/>
              <a:chExt cx="9652000" cy="1778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9652000" cy="1778000"/>
              </a:xfrm>
              <a:custGeom>
                <a:avLst/>
                <a:gdLst/>
                <a:ahLst/>
                <a:cxnLst/>
                <a:rect l="l" t="t" r="r" b="b"/>
                <a:pathLst>
                  <a:path w="9652000" h="1778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1778000"/>
                    </a:lnTo>
                    <a:lnTo>
                      <a:pt x="0" y="1778000"/>
                    </a:lnTo>
                    <a:close/>
                  </a:path>
                </a:pathLst>
              </a:custGeom>
              <a:solidFill>
                <a:srgbClr val="F7FAF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9652000" cy="1816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317500" y="269875"/>
              <a:ext cx="1143000" cy="558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 b="1">
                  <a:solidFill>
                    <a:srgbClr val="0F9D9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78000" y="336550"/>
              <a:ext cx="7747000" cy="8125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49"/>
                </a:lnSpc>
              </a:pPr>
              <a:r>
                <a:rPr lang="en-US" sz="2175" b="1">
                  <a:solidFill>
                    <a:srgbClr val="12385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Sharing fundraising information with prospective supporters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04875" y="5000625"/>
            <a:ext cx="7239000" cy="1333500"/>
            <a:chOff x="0" y="0"/>
            <a:chExt cx="9652000" cy="1778000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9652000" cy="1778000"/>
              <a:chOff x="0" y="0"/>
              <a:chExt cx="9652000" cy="17780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9652000" cy="1778000"/>
              </a:xfrm>
              <a:custGeom>
                <a:avLst/>
                <a:gdLst/>
                <a:ahLst/>
                <a:cxnLst/>
                <a:rect l="l" t="t" r="r" b="b"/>
                <a:pathLst>
                  <a:path w="9652000" h="1778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1778000"/>
                    </a:lnTo>
                    <a:lnTo>
                      <a:pt x="0" y="1778000"/>
                    </a:lnTo>
                    <a:close/>
                  </a:path>
                </a:pathLst>
              </a:custGeom>
              <a:solidFill>
                <a:srgbClr val="F7FAF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-38100"/>
                <a:ext cx="9652000" cy="1816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317500" y="269875"/>
              <a:ext cx="1143000" cy="558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 b="1">
                  <a:solidFill>
                    <a:srgbClr val="0F9D9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78000" y="336550"/>
              <a:ext cx="7747000" cy="8125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49"/>
                </a:lnSpc>
              </a:pPr>
              <a:r>
                <a:rPr lang="en-US" sz="2175" b="1">
                  <a:solidFill>
                    <a:srgbClr val="12385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Supporting donor and participant engagement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810625" y="5000625"/>
            <a:ext cx="7239000" cy="1333500"/>
            <a:chOff x="0" y="0"/>
            <a:chExt cx="9652000" cy="1778000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0"/>
              <a:ext cx="9652000" cy="1778000"/>
              <a:chOff x="0" y="0"/>
              <a:chExt cx="9652000" cy="17780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9652000" cy="1778000"/>
              </a:xfrm>
              <a:custGeom>
                <a:avLst/>
                <a:gdLst/>
                <a:ahLst/>
                <a:cxnLst/>
                <a:rect l="l" t="t" r="r" b="b"/>
                <a:pathLst>
                  <a:path w="9652000" h="1778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1778000"/>
                    </a:lnTo>
                    <a:lnTo>
                      <a:pt x="0" y="1778000"/>
                    </a:lnTo>
                    <a:close/>
                  </a:path>
                </a:pathLst>
              </a:custGeom>
              <a:solidFill>
                <a:srgbClr val="F7FAF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-38100"/>
                <a:ext cx="9652000" cy="1816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317500" y="269875"/>
              <a:ext cx="1143000" cy="558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 b="1">
                  <a:solidFill>
                    <a:srgbClr val="0F9D9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778000" y="336550"/>
              <a:ext cx="7747000" cy="8125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49"/>
                </a:lnSpc>
              </a:pPr>
              <a:r>
                <a:rPr lang="en-US" sz="2175" b="1">
                  <a:solidFill>
                    <a:srgbClr val="12385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Coordinating follow-ups and maintaining communication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04875" y="6810375"/>
            <a:ext cx="7239000" cy="1333500"/>
            <a:chOff x="0" y="0"/>
            <a:chExt cx="9652000" cy="1778000"/>
          </a:xfrm>
        </p:grpSpPr>
        <p:grpSp>
          <p:nvGrpSpPr>
            <p:cNvPr id="33" name="Group 33"/>
            <p:cNvGrpSpPr/>
            <p:nvPr/>
          </p:nvGrpSpPr>
          <p:grpSpPr>
            <a:xfrm>
              <a:off x="0" y="0"/>
              <a:ext cx="9652000" cy="1778000"/>
              <a:chOff x="0" y="0"/>
              <a:chExt cx="9652000" cy="17780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9652000" cy="1778000"/>
              </a:xfrm>
              <a:custGeom>
                <a:avLst/>
                <a:gdLst/>
                <a:ahLst/>
                <a:cxnLst/>
                <a:rect l="l" t="t" r="r" b="b"/>
                <a:pathLst>
                  <a:path w="9652000" h="1778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1778000"/>
                    </a:lnTo>
                    <a:lnTo>
                      <a:pt x="0" y="1778000"/>
                    </a:lnTo>
                    <a:close/>
                  </a:path>
                </a:pathLst>
              </a:custGeom>
              <a:solidFill>
                <a:srgbClr val="F7FAF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0" y="-38100"/>
                <a:ext cx="9652000" cy="1816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317500" y="269875"/>
              <a:ext cx="1143000" cy="558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 b="1">
                  <a:solidFill>
                    <a:srgbClr val="0F9D9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05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778000" y="336550"/>
              <a:ext cx="7747000" cy="8125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49"/>
                </a:lnSpc>
              </a:pPr>
              <a:r>
                <a:rPr lang="en-US" sz="2175" b="1">
                  <a:solidFill>
                    <a:srgbClr val="12385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Representing the Foundation’s mission professionally</a:t>
              </a:r>
            </a:p>
          </p:txBody>
        </p:sp>
      </p:grpSp>
      <p:sp>
        <p:nvSpPr>
          <p:cNvPr id="38" name="AutoShape 38"/>
          <p:cNvSpPr/>
          <p:nvPr/>
        </p:nvSpPr>
        <p:spPr>
          <a:xfrm>
            <a:off x="1143000" y="9467850"/>
            <a:ext cx="16002000" cy="0"/>
          </a:xfrm>
          <a:prstGeom prst="line">
            <a:avLst/>
          </a:prstGeom>
          <a:ln w="19050" cap="flat">
            <a:solidFill>
              <a:srgbClr val="CBDDE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9" name="TextBox 39"/>
          <p:cNvSpPr txBox="1"/>
          <p:nvPr/>
        </p:nvSpPr>
        <p:spPr>
          <a:xfrm>
            <a:off x="1143000" y="9667875"/>
            <a:ext cx="16002000" cy="23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617589"/>
                </a:solidFill>
                <a:latin typeface="IBM Plex Sans"/>
                <a:ea typeface="IBM Plex Sans"/>
                <a:cs typeface="IBM Plex Sans"/>
                <a:sym typeface="IBM Plex Sans"/>
              </a:rPr>
              <a:t>NAYEPANKH FOUNDATION  •  INTERNSHIP PRESENTATION                                    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33350"/>
            <a:chOff x="0" y="0"/>
            <a:chExt cx="24384000" cy="177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77800"/>
            </a:xfrm>
            <a:custGeom>
              <a:avLst/>
              <a:gdLst/>
              <a:ahLst/>
              <a:cxnLst/>
              <a:rect l="l" t="t" r="r" b="b"/>
              <a:pathLst>
                <a:path w="24384000" h="1778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0F9D94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384000" cy="215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143000" y="828675"/>
            <a:ext cx="4762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>
                <a:solidFill>
                  <a:srgbClr val="0F9D94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REFLECTION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1438275"/>
            <a:ext cx="13335000" cy="694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46"/>
              </a:lnSpc>
            </a:pPr>
            <a:r>
              <a:rPr lang="en-US" sz="4950" b="1">
                <a:solidFill>
                  <a:srgbClr val="12385B"/>
                </a:solidFill>
                <a:latin typeface="DM Sans Bold"/>
                <a:ea typeface="DM Sans Bold"/>
                <a:cs typeface="DM Sans Bold"/>
                <a:sym typeface="DM Sans Bold"/>
              </a:rPr>
              <a:t>Learning &amp; Professional Development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43000" y="3048000"/>
            <a:ext cx="7239000" cy="3238500"/>
            <a:chOff x="0" y="0"/>
            <a:chExt cx="9652000" cy="4318000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9652000" cy="4318000"/>
              <a:chOff x="0" y="0"/>
              <a:chExt cx="9652000" cy="4318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9652000" cy="4318000"/>
              </a:xfrm>
              <a:custGeom>
                <a:avLst/>
                <a:gdLst/>
                <a:ahLst/>
                <a:cxnLst/>
                <a:rect l="l" t="t" r="r" b="b"/>
                <a:pathLst>
                  <a:path w="9652000" h="4318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4318000"/>
                    </a:lnTo>
                    <a:lnTo>
                      <a:pt x="0" y="4318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9652000" cy="4356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508000" y="409575"/>
              <a:ext cx="8255000" cy="5088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16"/>
                </a:lnSpc>
              </a:pPr>
              <a:r>
                <a:rPr lang="en-US" sz="2700" b="1">
                  <a:solidFill>
                    <a:srgbClr val="12385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Experience gained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08000" y="1349375"/>
              <a:ext cx="8255000" cy="14199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75"/>
                </a:lnSpc>
              </a:pPr>
              <a:r>
                <a:rPr lang="en-US" sz="2025">
                  <a:solidFill>
                    <a:srgbClr val="17324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• Virtual fundraising and nonprofit outreach</a:t>
              </a:r>
            </a:p>
            <a:p>
              <a:pPr algn="l">
                <a:lnSpc>
                  <a:spcPts val="2875"/>
                </a:lnSpc>
              </a:pPr>
              <a:r>
                <a:rPr lang="en-US" sz="2025">
                  <a:solidFill>
                    <a:srgbClr val="17324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• Practical exposure to social-impact work</a:t>
              </a:r>
            </a:p>
            <a:p>
              <a:pPr algn="l">
                <a:lnSpc>
                  <a:spcPts val="2875"/>
                </a:lnSpc>
              </a:pPr>
              <a:r>
                <a:rPr lang="en-US" sz="2025">
                  <a:solidFill>
                    <a:srgbClr val="17324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• Understanding donor engagement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429750" y="3048000"/>
            <a:ext cx="7239000" cy="3238500"/>
            <a:chOff x="0" y="0"/>
            <a:chExt cx="9652000" cy="4318000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9652000" cy="4318000"/>
              <a:chOff x="0" y="0"/>
              <a:chExt cx="9652000" cy="43180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9652000" cy="4318000"/>
              </a:xfrm>
              <a:custGeom>
                <a:avLst/>
                <a:gdLst/>
                <a:ahLst/>
                <a:cxnLst/>
                <a:rect l="l" t="t" r="r" b="b"/>
                <a:pathLst>
                  <a:path w="9652000" h="4318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4318000"/>
                    </a:lnTo>
                    <a:lnTo>
                      <a:pt x="0" y="4318000"/>
                    </a:lnTo>
                    <a:close/>
                  </a:path>
                </a:pathLst>
              </a:custGeom>
              <a:solidFill>
                <a:srgbClr val="E8F4F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9652000" cy="4356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508000" y="409575"/>
              <a:ext cx="8890000" cy="5088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16"/>
                </a:lnSpc>
              </a:pPr>
              <a:r>
                <a:rPr lang="en-US" sz="2700" b="1">
                  <a:solidFill>
                    <a:srgbClr val="12385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Professional skills developed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08000" y="1349375"/>
              <a:ext cx="8255000" cy="14199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75"/>
                </a:lnSpc>
              </a:pPr>
              <a:r>
                <a:rPr lang="en-US" sz="2025">
                  <a:solidFill>
                    <a:srgbClr val="17324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• Communication and persuasion</a:t>
              </a:r>
            </a:p>
            <a:p>
              <a:pPr algn="l">
                <a:lnSpc>
                  <a:spcPts val="2875"/>
                </a:lnSpc>
              </a:pPr>
              <a:r>
                <a:rPr lang="en-US" sz="2025">
                  <a:solidFill>
                    <a:srgbClr val="17324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• Coordination and follow-up</a:t>
              </a:r>
            </a:p>
            <a:p>
              <a:pPr algn="l">
                <a:lnSpc>
                  <a:spcPts val="2875"/>
                </a:lnSpc>
              </a:pPr>
              <a:r>
                <a:rPr lang="en-US" sz="2025">
                  <a:solidFill>
                    <a:srgbClr val="17324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• Time management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43000" y="7191375"/>
            <a:ext cx="16002000" cy="1428750"/>
            <a:chOff x="0" y="0"/>
            <a:chExt cx="21336000" cy="1905000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21336000" cy="1905000"/>
              <a:chOff x="0" y="0"/>
              <a:chExt cx="21336000" cy="19050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21336000" cy="1905000"/>
              </a:xfrm>
              <a:custGeom>
                <a:avLst/>
                <a:gdLst/>
                <a:ahLst/>
                <a:cxnLst/>
                <a:rect l="l" t="t" r="r" b="b"/>
                <a:pathLst>
                  <a:path w="21336000" h="1905000">
                    <a:moveTo>
                      <a:pt x="0" y="0"/>
                    </a:moveTo>
                    <a:lnTo>
                      <a:pt x="21336000" y="0"/>
                    </a:lnTo>
                    <a:lnTo>
                      <a:pt x="21336000" y="1905000"/>
                    </a:lnTo>
                    <a:lnTo>
                      <a:pt x="0" y="1905000"/>
                    </a:lnTo>
                    <a:close/>
                  </a:path>
                </a:pathLst>
              </a:custGeom>
              <a:solidFill>
                <a:srgbClr val="12385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21336000" cy="194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1397000" y="460375"/>
              <a:ext cx="18542000" cy="5911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</a:pPr>
              <a:r>
                <a:rPr lang="en-US" sz="2700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Effective fundraising combines a clear cause, consistent communication, and trust.</a:t>
              </a:r>
            </a:p>
          </p:txBody>
        </p:sp>
      </p:grpSp>
      <p:sp>
        <p:nvSpPr>
          <p:cNvPr id="24" name="AutoShape 24"/>
          <p:cNvSpPr/>
          <p:nvPr/>
        </p:nvSpPr>
        <p:spPr>
          <a:xfrm>
            <a:off x="1143000" y="9467850"/>
            <a:ext cx="16002000" cy="0"/>
          </a:xfrm>
          <a:prstGeom prst="line">
            <a:avLst/>
          </a:prstGeom>
          <a:ln w="19050" cap="flat">
            <a:solidFill>
              <a:srgbClr val="CBDDE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TextBox 25"/>
          <p:cNvSpPr txBox="1"/>
          <p:nvPr/>
        </p:nvSpPr>
        <p:spPr>
          <a:xfrm>
            <a:off x="1143000" y="9667875"/>
            <a:ext cx="16002000" cy="23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617589"/>
                </a:solidFill>
                <a:latin typeface="IBM Plex Sans"/>
                <a:ea typeface="IBM Plex Sans"/>
                <a:cs typeface="IBM Plex Sans"/>
                <a:sym typeface="IBM Plex Sans"/>
              </a:rPr>
              <a:t>NAYEPANKH FOUNDATION  •  INTERNSHIP PRESENTATION                                     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33350"/>
            <a:chOff x="0" y="0"/>
            <a:chExt cx="24384000" cy="177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77800"/>
            </a:xfrm>
            <a:custGeom>
              <a:avLst/>
              <a:gdLst/>
              <a:ahLst/>
              <a:cxnLst/>
              <a:rect l="l" t="t" r="r" b="b"/>
              <a:pathLst>
                <a:path w="24384000" h="1778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0F9D94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384000" cy="215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815318" y="232639"/>
            <a:ext cx="4919141" cy="10287000"/>
            <a:chOff x="0" y="0"/>
            <a:chExt cx="6558854" cy="13716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558855" cy="13716000"/>
            </a:xfrm>
            <a:custGeom>
              <a:avLst/>
              <a:gdLst/>
              <a:ahLst/>
              <a:cxnLst/>
              <a:rect l="l" t="t" r="r" b="b"/>
              <a:pathLst>
                <a:path w="6558855" h="13716000">
                  <a:moveTo>
                    <a:pt x="0" y="0"/>
                  </a:moveTo>
                  <a:lnTo>
                    <a:pt x="6558855" y="0"/>
                  </a:lnTo>
                  <a:lnTo>
                    <a:pt x="6558855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385B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6558854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 flipV="1">
            <a:off x="13147028" y="4382443"/>
            <a:ext cx="0" cy="1890098"/>
          </a:xfrm>
          <a:prstGeom prst="line">
            <a:avLst/>
          </a:prstGeom>
          <a:ln w="95250" cap="flat">
            <a:gradFill>
              <a:gsLst>
                <a:gs pos="0">
                  <a:srgbClr val="000000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 flipV="1">
            <a:off x="914254" y="9728341"/>
            <a:ext cx="12185149" cy="0"/>
          </a:xfrm>
          <a:prstGeom prst="line">
            <a:avLst/>
          </a:prstGeom>
          <a:ln w="9525" cap="flat">
            <a:gradFill>
              <a:gsLst>
                <a:gs pos="0">
                  <a:srgbClr val="000000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10" name="Freeform 10"/>
          <p:cNvSpPr/>
          <p:nvPr/>
        </p:nvSpPr>
        <p:spPr>
          <a:xfrm>
            <a:off x="1905000" y="2660637"/>
            <a:ext cx="7000871" cy="5431005"/>
          </a:xfrm>
          <a:custGeom>
            <a:avLst/>
            <a:gdLst/>
            <a:ahLst/>
            <a:cxnLst/>
            <a:rect l="l" t="t" r="r" b="b"/>
            <a:pathLst>
              <a:path w="7000871" h="5431005">
                <a:moveTo>
                  <a:pt x="0" y="0"/>
                </a:moveTo>
                <a:lnTo>
                  <a:pt x="7000871" y="0"/>
                </a:lnTo>
                <a:lnTo>
                  <a:pt x="7000871" y="5431004"/>
                </a:lnTo>
                <a:lnTo>
                  <a:pt x="0" y="54310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5326" t="-28033" r="-15164" b="-6439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905000" y="771525"/>
            <a:ext cx="61912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>
                <a:solidFill>
                  <a:srgbClr val="0F9D94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CERTIFICATE VERIFICATION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05000" y="1163764"/>
            <a:ext cx="9525000" cy="758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32"/>
              </a:lnSpc>
            </a:pPr>
            <a:r>
              <a:rPr lang="en-US" sz="5400" b="1">
                <a:solidFill>
                  <a:srgbClr val="12385B"/>
                </a:solidFill>
                <a:latin typeface="DM Sans Bold"/>
                <a:ea typeface="DM Sans Bold"/>
                <a:cs typeface="DM Sans Bold"/>
                <a:sym typeface="DM Sans Bold"/>
              </a:rPr>
              <a:t>Internship validated.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406414" y="4271149"/>
            <a:ext cx="3736949" cy="1008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38"/>
              </a:lnSpc>
              <a:spcBef>
                <a:spcPct val="0"/>
              </a:spcBef>
            </a:pPr>
            <a:r>
              <a:rPr lang="en-US" sz="5956" b="1">
                <a:solidFill>
                  <a:srgbClr val="F7FAFC"/>
                </a:solidFill>
                <a:latin typeface="DM Sans Bold"/>
                <a:ea typeface="DM Sans Bold"/>
                <a:cs typeface="DM Sans Bold"/>
                <a:sym typeface="DM Sans Bold"/>
              </a:rPr>
              <a:t>Thank You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406414" y="5241756"/>
            <a:ext cx="2707035" cy="347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0"/>
              </a:lnSpc>
              <a:spcBef>
                <a:spcPct val="0"/>
              </a:spcBef>
            </a:pPr>
            <a:r>
              <a:rPr lang="en-US" sz="2050">
                <a:solidFill>
                  <a:srgbClr val="FDFDFD"/>
                </a:solidFill>
                <a:latin typeface="DM Sans"/>
                <a:ea typeface="DM Sans"/>
                <a:cs typeface="DM Sans"/>
                <a:sym typeface="DM Sans"/>
              </a:rPr>
              <a:t>For your attention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4254" y="9894867"/>
            <a:ext cx="4399955" cy="222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90"/>
              </a:lnSpc>
              <a:spcBef>
                <a:spcPct val="0"/>
              </a:spcBef>
            </a:pPr>
            <a:r>
              <a:rPr lang="en-US" sz="135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NAYEPANKH FOUNDATION • INTERNSHIP PRESENTATION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342</Words>
  <Application>Microsoft Office PowerPoint</Application>
  <PresentationFormat>Custom</PresentationFormat>
  <Paragraphs>98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DM Sans Bold</vt:lpstr>
      <vt:lpstr>IBM Plex Sans Bold</vt:lpstr>
      <vt:lpstr>IBM Plex Sans</vt:lpstr>
      <vt:lpstr>Arial</vt:lpstr>
      <vt:lpstr>DM Sans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Internship Presentation (PPT)</dc:title>
  <cp:lastModifiedBy>Chaitanya Dev Rajput</cp:lastModifiedBy>
  <cp:revision>1</cp:revision>
  <dcterms:created xsi:type="dcterms:W3CDTF">2006-08-16T00:00:00Z</dcterms:created>
  <dcterms:modified xsi:type="dcterms:W3CDTF">2026-08-26T18:51:19Z</dcterms:modified>
  <dc:identifier>DAHSVcz7f6o</dc:identifier>
</cp:coreProperties>
</file>